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4" r:id="rId4"/>
  </p:sldMasterIdLst>
  <p:notesMasterIdLst>
    <p:notesMasterId r:id="rId22"/>
  </p:notesMasterIdLst>
  <p:handoutMasterIdLst>
    <p:handoutMasterId r:id="rId23"/>
  </p:handoutMasterIdLst>
  <p:sldIdLst>
    <p:sldId id="305" r:id="rId5"/>
    <p:sldId id="306" r:id="rId6"/>
    <p:sldId id="307" r:id="rId7"/>
    <p:sldId id="308" r:id="rId8"/>
    <p:sldId id="309" r:id="rId9"/>
    <p:sldId id="319" r:id="rId10"/>
    <p:sldId id="327" r:id="rId11"/>
    <p:sldId id="326" r:id="rId12"/>
    <p:sldId id="321" r:id="rId13"/>
    <p:sldId id="311" r:id="rId14"/>
    <p:sldId id="324" r:id="rId15"/>
    <p:sldId id="322" r:id="rId16"/>
    <p:sldId id="328" r:id="rId17"/>
    <p:sldId id="323" r:id="rId18"/>
    <p:sldId id="330" r:id="rId19"/>
    <p:sldId id="316" r:id="rId20"/>
    <p:sldId id="31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82"/>
  </p:normalViewPr>
  <p:slideViewPr>
    <p:cSldViewPr snapToGrid="0">
      <p:cViewPr>
        <p:scale>
          <a:sx n="70" d="100"/>
          <a:sy n="70" d="100"/>
        </p:scale>
        <p:origin x="1166" y="226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467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0797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69061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3028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88361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1825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7507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29687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6785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408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28635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86481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29969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24734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5196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97881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80090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3293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669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with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65197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4693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with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930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6218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185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6826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7621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41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698" r:id="rId27"/>
    <p:sldLayoutId id="2147483699" r:id="rId28"/>
    <p:sldLayoutId id="2147483700" r:id="rId29"/>
    <p:sldLayoutId id="2147483701" r:id="rId30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https://dl.acm.org/doi/10.1145/3559009.3590209" TargetMode="External"/><Relationship Id="rId3" Type="http://schemas.openxmlformats.org/officeDocument/2006/relationships/hyperlink" Target="https://www.irejournals.com/formatedpaper/1710720.pdf" TargetMode="External"/><Relationship Id="rId7" Type="http://schemas.openxmlformats.org/officeDocument/2006/relationships/hyperlink" Target="https://www.google.com/search?q=https://ijarcce.com/peer-reviewed-refereed-journal-vol-13-issue-11-november-2024/" TargetMode="External"/><Relationship Id="rId2" Type="http://schemas.openxmlformats.org/officeDocument/2006/relationships/hyperlink" Target="https://ieeexplore.ieee.org/document/9804814" TargetMode="Externa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www.researchgate.net/publication/396971841_Effectiveness_of_Artificial_Intelligence-Based_Adaptive_Honeypots_in_Cyber_Threat_Detection_A_Systematic_Literature_Review_and_Meta-Analysis" TargetMode="External"/><Relationship Id="rId5" Type="http://schemas.openxmlformats.org/officeDocument/2006/relationships/hyperlink" Target="https://www.researchgate.net/publication/385497221_Neural_Transformers_for_Zero-Day_Threat_Detection_in_Real-Time_Cybersecurity_Network_Traffic_Analysis" TargetMode="External"/><Relationship Id="rId4" Type="http://schemas.openxmlformats.org/officeDocument/2006/relationships/hyperlink" Target="https://www.google.com/search?q=https://www.ijmrset.com/Volume-8-Issue-8-August-2025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4FB9E-802E-FCCF-2EB1-DDE7C238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3" y="1288026"/>
            <a:ext cx="10971090" cy="1973334"/>
          </a:xfrm>
        </p:spPr>
        <p:txBody>
          <a:bodyPr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DYNAMIC AND ADAPTIVE HONEYPOT DEPLOYMENT FOR SECURITY IOT NETWORKS USING DEEP REINFORCEMENT LEARNING  </a:t>
            </a: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9234" y="4148783"/>
            <a:ext cx="2933287" cy="1588008"/>
          </a:xfrm>
        </p:spPr>
        <p:txBody>
          <a:bodyPr>
            <a:normAutofit fontScale="92500"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Mr.M.Vijay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Sr.Asst.Professor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BBBA56-1416-D2D9-C4F3-81507CF421A4}"/>
              </a:ext>
            </a:extLst>
          </p:cNvPr>
          <p:cNvSpPr txBox="1"/>
          <p:nvPr/>
        </p:nvSpPr>
        <p:spPr>
          <a:xfrm>
            <a:off x="6980903" y="3903406"/>
            <a:ext cx="448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No:31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Kusam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Lakshmi Prasanna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Ismail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Jabiulla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Tommandru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Mahesh Babu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88" y="778527"/>
            <a:ext cx="10479024" cy="67702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1088" y="1455547"/>
            <a:ext cx="6556375" cy="447992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&amp; Scope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Dataset vs Our Dataset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F36F11-A50A-4347-9430-9522EAFC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6368" y="943897"/>
            <a:ext cx="6931152" cy="998695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US" sz="2400" dirty="0">
                <a:solidFill>
                  <a:schemeClr val="tx1"/>
                </a:solidFill>
              </a:rPr>
            </a:b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E0E93-C6B0-0C8B-16D2-354982229D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7057" y="1665732"/>
            <a:ext cx="10133898" cy="3483211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data-driven, dynamic, and adaptive honeypot deployment system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IoT network security. The proposed approach monitors network traffic, detects suspicious activities, and uses a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 (DQN)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AI agent to make optimal honeypot deployment decisions.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Software-based honeypots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 as controlled decoys to capture attacker interactions and logs. The system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attack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while balancing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security, QoS, and resource efficiency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the results monitored through a dashboard.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808" y="678688"/>
            <a:ext cx="10479024" cy="557784"/>
          </a:xfrm>
        </p:spPr>
        <p:txBody>
          <a:bodyPr>
            <a:noAutofit/>
          </a:bodyPr>
          <a:lstStyle/>
          <a:p>
            <a:pPr algn="ctr"/>
            <a:br>
              <a:rPr lang="en-US" sz="2400" b="1" dirty="0"/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8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4AC61-4F6E-98E2-D42B-F2114BBA12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77687" y="1699388"/>
            <a:ext cx="10025742" cy="338424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networks are vulnerable to intrusions and cyberattacks because, attackers can directly target exposed network services. Without a honeypot, suspicious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may interact with real services.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mechanisms may also struggle to adapt to continuously changing attack conditions. Therefore, an intelligent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honeypot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needed to detect suspicious activity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provide controlled decoy environments, capture attacker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improve IoT network security while maintaining QoS and resource efficiency.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CB087B-CB5E-35C5-3AD8-D1A6E1AF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40640"/>
            <a:ext cx="10479024" cy="55778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6DA25-1172-208C-2C26-5E3AF67E11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C9131A-C5D7-1829-383A-C6E9D6C0D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524253"/>
              </p:ext>
            </p:extLst>
          </p:nvPr>
        </p:nvGraphicFramePr>
        <p:xfrm>
          <a:off x="507999" y="447044"/>
          <a:ext cx="11259457" cy="6060694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719197">
                  <a:extLst>
                    <a:ext uri="{9D8B030D-6E8A-4147-A177-3AD203B41FA5}">
                      <a16:colId xmlns:a16="http://schemas.microsoft.com/office/drawing/2014/main" val="3002775542"/>
                    </a:ext>
                  </a:extLst>
                </a:gridCol>
                <a:gridCol w="780786">
                  <a:extLst>
                    <a:ext uri="{9D8B030D-6E8A-4147-A177-3AD203B41FA5}">
                      <a16:colId xmlns:a16="http://schemas.microsoft.com/office/drawing/2014/main" val="3098368718"/>
                    </a:ext>
                  </a:extLst>
                </a:gridCol>
                <a:gridCol w="1253658">
                  <a:extLst>
                    <a:ext uri="{9D8B030D-6E8A-4147-A177-3AD203B41FA5}">
                      <a16:colId xmlns:a16="http://schemas.microsoft.com/office/drawing/2014/main" val="211957555"/>
                    </a:ext>
                  </a:extLst>
                </a:gridCol>
                <a:gridCol w="1836497">
                  <a:extLst>
                    <a:ext uri="{9D8B030D-6E8A-4147-A177-3AD203B41FA5}">
                      <a16:colId xmlns:a16="http://schemas.microsoft.com/office/drawing/2014/main" val="819195529"/>
                    </a:ext>
                  </a:extLst>
                </a:gridCol>
                <a:gridCol w="2551302">
                  <a:extLst>
                    <a:ext uri="{9D8B030D-6E8A-4147-A177-3AD203B41FA5}">
                      <a16:colId xmlns:a16="http://schemas.microsoft.com/office/drawing/2014/main" val="751210639"/>
                    </a:ext>
                  </a:extLst>
                </a:gridCol>
                <a:gridCol w="2051218">
                  <a:extLst>
                    <a:ext uri="{9D8B030D-6E8A-4147-A177-3AD203B41FA5}">
                      <a16:colId xmlns:a16="http://schemas.microsoft.com/office/drawing/2014/main" val="258280204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1649568455"/>
                    </a:ext>
                  </a:extLst>
                </a:gridCol>
              </a:tblGrid>
              <a:tr h="6107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15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/ Models Used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 Contributions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36264364"/>
                  </a:ext>
                </a:extLst>
              </a:tr>
              <a:tr h="156673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Honeypot Deployment in Ultra-Dense Beyond 5G Networks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</a:t>
                      </a:r>
                      <a:r>
                        <a:rPr lang="en-IN" sz="15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Radoglou</a:t>
                      </a: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IN" sz="15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Grammatikis</a:t>
                      </a: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Q-Learning &amp; epsilon-Greedy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OptimizesWireless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Honeypot deployment using Q-Learning</a:t>
                      </a:r>
                      <a:r>
                        <a:rPr lang="en-IN" sz="1600" dirty="0"/>
                        <a:t>.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attacker-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analysis.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93.00%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55755926"/>
                  </a:ext>
                </a:extLst>
              </a:tr>
              <a:tr h="132773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Evolutionary Honeypots for Polymorphic Threats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 </a:t>
                      </a:r>
                      <a:r>
                        <a:rPr lang="en-IN" sz="15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Kamatkar</a:t>
                      </a: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C. Kamble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Transformers &amp; Reinforcement Learning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attacker moves and adapts the honeypot.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RL training data and simulation-based evaluation.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91.68%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31241745"/>
                  </a:ext>
                </a:extLst>
              </a:tr>
              <a:tr h="132773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Honeypots: Detecting Attack Patterns in Real Time</a:t>
                      </a:r>
                      <a:endParaRPr lang="en-IN" sz="15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5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M. H. </a:t>
                      </a:r>
                      <a:r>
                        <a:rPr lang="en-IN" sz="15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Nebagiri</a:t>
                      </a: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Pushpa. D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Classification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malicious activity in real time using ML.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significant computation and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data..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82.77%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89548222"/>
                  </a:ext>
                </a:extLst>
              </a:tr>
              <a:tr h="10990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Adaptive Honeypots for Dynamic Threats</a:t>
                      </a:r>
                      <a:endParaRPr lang="en-IN" sz="15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5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Shafeena K I &amp; Sreeji K B</a:t>
                      </a:r>
                      <a:endParaRPr lang="en-IN" sz="15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Anomaly Detection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Automatically adapts decoys to changing attacks.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further integration and real-world testing.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86.88%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71695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18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CBFD-F056-344B-4809-9A0FA113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736BF0-6AE5-39FB-EFEC-D403DE80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648" y="119888"/>
            <a:ext cx="10479024" cy="55778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B2AC9-1834-788B-7F75-8FC75B90A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2000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3A5EC1-C0BC-40F3-F441-5AE7BD175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004050"/>
              </p:ext>
            </p:extLst>
          </p:nvPr>
        </p:nvGraphicFramePr>
        <p:xfrm>
          <a:off x="640079" y="677673"/>
          <a:ext cx="10922003" cy="571836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352479">
                  <a:extLst>
                    <a:ext uri="{9D8B030D-6E8A-4147-A177-3AD203B41FA5}">
                      <a16:colId xmlns:a16="http://schemas.microsoft.com/office/drawing/2014/main" val="3559380985"/>
                    </a:ext>
                  </a:extLst>
                </a:gridCol>
                <a:gridCol w="672984">
                  <a:extLst>
                    <a:ext uri="{9D8B030D-6E8A-4147-A177-3AD203B41FA5}">
                      <a16:colId xmlns:a16="http://schemas.microsoft.com/office/drawing/2014/main" val="2651502044"/>
                    </a:ext>
                  </a:extLst>
                </a:gridCol>
                <a:gridCol w="1340401">
                  <a:extLst>
                    <a:ext uri="{9D8B030D-6E8A-4147-A177-3AD203B41FA5}">
                      <a16:colId xmlns:a16="http://schemas.microsoft.com/office/drawing/2014/main" val="377905330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184682663"/>
                    </a:ext>
                  </a:extLst>
                </a:gridCol>
                <a:gridCol w="2405743">
                  <a:extLst>
                    <a:ext uri="{9D8B030D-6E8A-4147-A177-3AD203B41FA5}">
                      <a16:colId xmlns:a16="http://schemas.microsoft.com/office/drawing/2014/main" val="1667003935"/>
                    </a:ext>
                  </a:extLst>
                </a:gridCol>
                <a:gridCol w="2416628">
                  <a:extLst>
                    <a:ext uri="{9D8B030D-6E8A-4147-A177-3AD203B41FA5}">
                      <a16:colId xmlns:a16="http://schemas.microsoft.com/office/drawing/2014/main" val="868959508"/>
                    </a:ext>
                  </a:extLst>
                </a:gridCol>
                <a:gridCol w="1057368">
                  <a:extLst>
                    <a:ext uri="{9D8B030D-6E8A-4147-A177-3AD203B41FA5}">
                      <a16:colId xmlns:a16="http://schemas.microsoft.com/office/drawing/2014/main" val="358324991"/>
                    </a:ext>
                  </a:extLst>
                </a:gridCol>
              </a:tblGrid>
              <a:tr h="74627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/ Models Used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94758755"/>
                  </a:ext>
                </a:extLst>
              </a:tr>
              <a:tr h="163587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 of AI-Based Adaptive Honeypots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H. Purnama &amp; D. H. </a:t>
                      </a:r>
                      <a:r>
                        <a:rPr lang="en-IN" sz="16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Prasetyo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Meta-Analysis of 36 Studies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the effectiveness of AI-based adaptive honeypots.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Review-based study; no new deployable system.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89.50%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86269033"/>
                  </a:ext>
                </a:extLst>
              </a:tr>
              <a:tr h="163587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Honeypot System with Behaviour Analysis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6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Mrs. Latha P et al.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K-Means Clustering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Groups attackers based on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K-Means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resource-aware deployment.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~88.00%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93638229"/>
                  </a:ext>
                </a:extLst>
              </a:tr>
              <a:tr h="133934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HoneyIoT: Adaptive High-Interaction Honeypot for IoT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 </a:t>
                      </a:r>
                      <a:endParaRPr lang="en-IN" sz="16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Chongqi Guan et al.</a:t>
                      </a:r>
                      <a:endParaRPr lang="en-IN" sz="16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</a:t>
                      </a:r>
                      <a:endParaRPr lang="en-IN" sz="16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adaptive high-interaction honeypots for IoT devices.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device-specific attack traces and responses.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~78.00%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33968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089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8C7F-0055-7E24-C912-77DBD7563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AE329-C45D-F9C0-FD7D-74E83C581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deploy and manage honeypots based on network conditions.</a:t>
            </a:r>
          </a:p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and analyze attacker activities and attack patterns.</a:t>
            </a:r>
          </a:p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real-time dashboard for monitoring and reporting.</a:t>
            </a:r>
          </a:p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network security while reducing resource utilization.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F3FAA-9080-0610-D19C-A2D4B8FA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366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6CB2C-DEBA-D9F2-4FBC-7E380044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087120"/>
            <a:ext cx="9601196" cy="119887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85FAE-9B98-2FD9-9487-D1E315D43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network traffic and detect suspicious activities in real time.</a:t>
            </a:r>
          </a:p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collection and analysis of attacker behavior.</a:t>
            </a:r>
          </a:p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and storage of attack logs for analysis.</a:t>
            </a:r>
          </a:p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adaptive deployment of honeypots based on attack patterns.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0D6FB-FCC9-161F-060F-F35C9BAF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360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1F29-67BA-1074-B82A-E2870EAC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919D0-2851-4774-01D4-0395A803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086" y="80267"/>
            <a:ext cx="10479024" cy="557784"/>
          </a:xfrm>
        </p:spPr>
        <p:txBody>
          <a:bodyPr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Dataset vs Our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3BAD4-E56E-E3ED-E5A0-A014F39FC1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1470" y="1195861"/>
            <a:ext cx="4507503" cy="46852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1).The base paper relies 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simulation-based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artificially generated and does not fully represent real-world network traffic.  The attack behavior in the simulation is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and assumed.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lacks wireless network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packet-level features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IP addresses, source generated by model, limiting detailed traffic analysis.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Only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number of attack scenarios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modeled.  Did not real attack logs and deploy real networks.</a:t>
            </a:r>
          </a:p>
          <a:p>
            <a:pPr marL="0" indent="0" algn="just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3498-62EE-DB0E-3D80-B9940B0F2D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9038" y="638077"/>
            <a:ext cx="4122927" cy="557784"/>
          </a:xfrm>
        </p:spPr>
        <p:txBody>
          <a:bodyPr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C918F2-F19F-7A14-9144-48C8BBEA99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53550" y="1273628"/>
            <a:ext cx="5707364" cy="382931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.Dataset 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CICIoT2023 (Canadian Institute for Cybersecurity, UNB)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Scale: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~46.7 Million total flow records distributed across 309 CSV files</a:t>
            </a: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Dimensionality: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 extracted statistical flow features (flow duration, rate, packet size metrics, TCP flags, header lengths)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3.The dataset includes both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and malicious interactions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/>
              <a:t>4.Target Attack Classes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33 attack variants classified into 7 primary categories (DDoS, DoS, Mirai Botnet,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PortScan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Brute Force, Spoofing, Web Attacks) + Benign traffic</a:t>
            </a: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Each record represents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request made to the system or honeypot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65CB2-8E8B-F98D-0952-B84BF809B5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414E239-4FA6-DACC-F000-E5B648D3634F}"/>
              </a:ext>
            </a:extLst>
          </p:cNvPr>
          <p:cNvSpPr txBox="1">
            <a:spLocks/>
          </p:cNvSpPr>
          <p:nvPr/>
        </p:nvSpPr>
        <p:spPr>
          <a:xfrm>
            <a:off x="841248" y="1554480"/>
            <a:ext cx="4122927" cy="5577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20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FC14E43-6FCB-9415-BA9B-97F4BA9860FF}"/>
              </a:ext>
            </a:extLst>
          </p:cNvPr>
          <p:cNvSpPr txBox="1">
            <a:spLocks/>
          </p:cNvSpPr>
          <p:nvPr/>
        </p:nvSpPr>
        <p:spPr>
          <a:xfrm>
            <a:off x="993648" y="1554480"/>
            <a:ext cx="4122927" cy="5577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20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6455B0-BEFC-9A0E-B96F-BE4BD4050D87}"/>
              </a:ext>
            </a:extLst>
          </p:cNvPr>
          <p:cNvSpPr txBox="1">
            <a:spLocks/>
          </p:cNvSpPr>
          <p:nvPr/>
        </p:nvSpPr>
        <p:spPr>
          <a:xfrm>
            <a:off x="841248" y="1554480"/>
            <a:ext cx="4122927" cy="5577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20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168E27E-EE51-68E4-FB18-E4F1D0D2E2A5}"/>
              </a:ext>
            </a:extLst>
          </p:cNvPr>
          <p:cNvSpPr txBox="1">
            <a:spLocks/>
          </p:cNvSpPr>
          <p:nvPr/>
        </p:nvSpPr>
        <p:spPr>
          <a:xfrm>
            <a:off x="917448" y="1554480"/>
            <a:ext cx="4122927" cy="5577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20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6A78722-58C3-05E3-1151-92E5DACE9781}"/>
              </a:ext>
            </a:extLst>
          </p:cNvPr>
          <p:cNvSpPr txBox="1">
            <a:spLocks/>
          </p:cNvSpPr>
          <p:nvPr/>
        </p:nvSpPr>
        <p:spPr>
          <a:xfrm>
            <a:off x="670560" y="1554480"/>
            <a:ext cx="4122927" cy="5577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20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76A172B-F373-0801-72FF-3E555A04E427}"/>
              </a:ext>
            </a:extLst>
          </p:cNvPr>
          <p:cNvSpPr txBox="1">
            <a:spLocks/>
          </p:cNvSpPr>
          <p:nvPr/>
        </p:nvSpPr>
        <p:spPr>
          <a:xfrm>
            <a:off x="879348" y="1632204"/>
            <a:ext cx="4122927" cy="5577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20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BD334BE-9AA5-1983-F373-66950618CF9E}"/>
              </a:ext>
            </a:extLst>
          </p:cNvPr>
          <p:cNvSpPr txBox="1">
            <a:spLocks/>
          </p:cNvSpPr>
          <p:nvPr/>
        </p:nvSpPr>
        <p:spPr>
          <a:xfrm>
            <a:off x="993647" y="1598168"/>
            <a:ext cx="4122927" cy="5577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20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9A8BB14-AC7F-2BA4-5C0D-4F8EF3744385}"/>
              </a:ext>
            </a:extLst>
          </p:cNvPr>
          <p:cNvSpPr txBox="1">
            <a:spLocks/>
          </p:cNvSpPr>
          <p:nvPr/>
        </p:nvSpPr>
        <p:spPr>
          <a:xfrm>
            <a:off x="1146047" y="1750568"/>
            <a:ext cx="4122927" cy="5577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20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C15338E-0987-D64A-10A3-D3807A907BD0}"/>
              </a:ext>
            </a:extLst>
          </p:cNvPr>
          <p:cNvSpPr txBox="1">
            <a:spLocks/>
          </p:cNvSpPr>
          <p:nvPr/>
        </p:nvSpPr>
        <p:spPr>
          <a:xfrm>
            <a:off x="831086" y="697233"/>
            <a:ext cx="4122927" cy="5019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20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596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5D67-56B9-4DBB-5270-4A51BFC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746" y="677442"/>
            <a:ext cx="5525729" cy="66859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03C0E0-3FE6-5AB6-FE91-377EB5FE4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32" y="1229031"/>
            <a:ext cx="9688904" cy="404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FE7B3-96FB-2065-3B8F-DA25C585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0802-0CD8-D7F6-5C44-56A0090A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998" y="633063"/>
            <a:ext cx="7482349" cy="493848"/>
          </a:xfrm>
        </p:spPr>
        <p:txBody>
          <a:bodyPr>
            <a:normAutofit fontScale="90000"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EXISTING SYSTEM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18F147-644D-1887-8473-122C147742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412" y="1268361"/>
            <a:ext cx="10121523" cy="4709652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mainly on deployment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is designed around Wireless Honeypots, less directly applicable to a general IoT/software-service environment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only Q-Learning, which may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scale well for large and complex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include real honeypot deployment or attack logging.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attack classification or anomaly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mechanism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complete monitoring/dashboard layer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D6C82-7B9F-0C5F-C63D-511DA833AB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57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E59B40-DBD5-DA75-350C-F6B1C4AEE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208" y="556768"/>
            <a:ext cx="4066032" cy="557784"/>
          </a:xfrm>
        </p:spPr>
        <p:txBody>
          <a:bodyPr/>
          <a:lstStyle/>
          <a:p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D9CBE-5C3C-E334-BD21-39D0C273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090" y="1258528"/>
            <a:ext cx="10314039" cy="5132439"/>
          </a:xfrm>
        </p:spPr>
        <p:txBody>
          <a:bodyPr>
            <a:normAutofit/>
          </a:bodyPr>
          <a:lstStyle/>
          <a:p>
            <a:pPr lvl="0" algn="just">
              <a:spcAft>
                <a:spcPts val="600"/>
              </a:spcAft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: DATA &amp; Network Monitoring(traffic and conditions)</a:t>
            </a:r>
          </a:p>
          <a:p>
            <a:pPr lvl="1"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2: Attack Detection(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 activity)</a:t>
            </a:r>
          </a:p>
          <a:p>
            <a:pPr lvl="1"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 : DQN Decision Making( Deploy honeypots dynamically based on network conditions, Select suitable honeypot action)</a:t>
            </a:r>
          </a:p>
          <a:p>
            <a:pPr lvl="1"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 (AI Agent): Dynamic Honeypot Deployment  (Attack Classification, Anomaly Detection.</a:t>
            </a:r>
          </a:p>
          <a:p>
            <a:pPr lvl="1"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5: Attacker Interaction &amp; Analysis(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Divert suspicious activity to the honeypot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6 (Dashboard): FEEDBACK &amp; Monitoring visualizes rewards.</a:t>
            </a:r>
          </a:p>
          <a:p>
            <a:pPr lvl="0" algn="just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378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94EBC-1427-8F37-05F3-12712B463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D16461-AE0A-D49B-8CB5-B62173F0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284" y="556768"/>
            <a:ext cx="7993626" cy="1203206"/>
          </a:xfrm>
        </p:spPr>
        <p:txBody>
          <a:bodyPr>
            <a:normAutofit/>
          </a:bodyPr>
          <a:lstStyle/>
          <a:p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D8211-C549-B64F-A62F-32C27C9230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0774" y="1168793"/>
            <a:ext cx="10668000" cy="5132439"/>
          </a:xfrm>
        </p:spPr>
        <p:txBody>
          <a:bodyPr>
            <a:normAutofit/>
          </a:bodyPr>
          <a:lstStyle/>
          <a:p>
            <a:pPr lvl="0" algn="just"/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Protects real servers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diverting attackers to honeypots.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suitable for a software/IoT network environment, that can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imitate services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SSH/HTTP.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doesn't only decide honeypot deployment; it also considers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happening in the network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is better suited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more complex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representations than a simple tabular Q-learning approach.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Performance: Maximizes protection while preventing network outages.</a:t>
            </a:r>
          </a:p>
          <a:p>
            <a:pPr lvl="1"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Deception: Automatically changes to keep attackers engaged longer.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 interaction logging.</a:t>
            </a:r>
          </a:p>
          <a:p>
            <a:pPr lvl="1"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efficient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it suitable for modern network environments.</a:t>
            </a:r>
          </a:p>
          <a:p>
            <a:pPr lvl="0" algn="just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12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61E3E-BE87-37A7-71D4-5B950127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62BD9F-25EF-5F42-E265-DB3EB2AEA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544" y="78986"/>
            <a:ext cx="4048629" cy="432619"/>
          </a:xfrm>
        </p:spPr>
        <p:txBody>
          <a:bodyPr>
            <a:normAutofit fontScale="90000"/>
          </a:bodyPr>
          <a:lstStyle/>
          <a:p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AA9EF-E2F4-790F-5C66-14811FA64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35" y="650241"/>
            <a:ext cx="1035012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63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FBF80-9927-96CA-18CA-49D96EEB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F8B953-56B0-AC97-B5CF-E1B4D657C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284" y="556768"/>
            <a:ext cx="7993626" cy="1203206"/>
          </a:xfrm>
        </p:spPr>
        <p:txBody>
          <a:bodyPr>
            <a:normAutofit/>
          </a:bodyPr>
          <a:lstStyle/>
          <a:p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AEDAF-8A3C-DA9B-48DD-F3B794DB66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5143" y="1458686"/>
            <a:ext cx="9209315" cy="4842546"/>
          </a:xfrm>
        </p:spPr>
        <p:txBody>
          <a:bodyPr>
            <a:normAutofit/>
          </a:bodyPr>
          <a:lstStyle/>
          <a:p>
            <a:pPr lvl="0"/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adaptive honeypot deployment system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enhances IoT network security by detecting suspicious activities and dynamically deploying software-based honeypots as controlled decoys. Using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Reinforcement Learning (DQN)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adapts honeypot deployment according to changing network conditions. It captures attacker activities while aiming to improve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detection, resource utilization, QoS, and overall network security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3450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B20A-89F5-0E83-2FBB-597A9E58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68" y="0"/>
            <a:ext cx="10479024" cy="638821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1F25F4-9D5B-F843-24A2-BF1F692DF9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0768" y="782585"/>
            <a:ext cx="10357104" cy="532611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Honeypot Deployment in Ultra-Dense Beyond 5G Networks: A Reinforcement Learning Approach (2024) *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Browser Link (IEEE Xplore)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Evolutionary Honeypots for Polymorphic Cyber Threats (2025) *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Browser Link (IRE Journals)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Honeypots: Detecting and Classifying Attack Patterns in Real Time (2025) *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Browser Link (IJMRSET)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Adaptive Honeypots for Dynamic Cyber Threats (2025) *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Browser Link (ResearchGate)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of Artificial Intelligence-Based Adaptive Honeypots in Cyber Threat Detection: A Systematic Literature Review (2025) *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Browser Link (ResearchGate)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Honeypot System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for Web Security (2024) *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Browser Link (IJARCCE)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HoneyIoT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Adaptive High-Interaction Honeypot for IoT Devices Through Reinforcement Learning (2023) *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Browser Link (ACM Digital Library)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AE480-D58D-8A4F-D9AD-3E0956702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294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23" y="2721866"/>
            <a:ext cx="10479088" cy="121005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Thankyou…!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430</TotalTime>
  <Words>1288</Words>
  <Application>Microsoft Office PowerPoint</Application>
  <PresentationFormat>Widescreen</PresentationFormat>
  <Paragraphs>160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Garamond</vt:lpstr>
      <vt:lpstr>Times New Roman</vt:lpstr>
      <vt:lpstr>Wingdings</vt:lpstr>
      <vt:lpstr>Organic</vt:lpstr>
      <vt:lpstr>A DATA-DRIVEN DYNAMIC AND ADAPTIVE HONEYPOT DEPLOYMENT FOR SECURITY IOT NETWORKS USING DEEP REINFORCEMENT LEARNING  </vt:lpstr>
      <vt:lpstr>OUTLINE</vt:lpstr>
      <vt:lpstr>ABSTRACT  </vt:lpstr>
      <vt:lpstr> PROBLEM STATEMENT</vt:lpstr>
      <vt:lpstr>LITERATURE SURVEY </vt:lpstr>
      <vt:lpstr>LITERATURE SURVEY </vt:lpstr>
      <vt:lpstr>OBJECTIVE</vt:lpstr>
      <vt:lpstr>SCOPE</vt:lpstr>
      <vt:lpstr>Existing Dataset vs Our Dataset</vt:lpstr>
      <vt:lpstr>EXISTING SYSTEM </vt:lpstr>
      <vt:lpstr>DISADVANTAGES OF EXISTING SYSTEM </vt:lpstr>
      <vt:lpstr>PROPOSED SYSTEM</vt:lpstr>
      <vt:lpstr> Advantages of PROPOSED SYSTEM</vt:lpstr>
      <vt:lpstr>PROPOSED SYSTEM</vt:lpstr>
      <vt:lpstr> CONCLUSION</vt:lpstr>
      <vt:lpstr>REFERENCES</vt:lpstr>
      <vt:lpstr>Thankyou…!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ISMAIL</dc:creator>
  <cp:lastModifiedBy>Ande Teja Naga Rupa</cp:lastModifiedBy>
  <cp:revision>53</cp:revision>
  <dcterms:created xsi:type="dcterms:W3CDTF">2025-12-26T13:49:22Z</dcterms:created>
  <dcterms:modified xsi:type="dcterms:W3CDTF">2026-08-16T18:20:37Z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